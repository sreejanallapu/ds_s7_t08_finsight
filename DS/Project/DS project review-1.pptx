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262" r:id="rId3"/>
    <p:sldId id="707" r:id="rId4"/>
    <p:sldId id="257" r:id="rId5"/>
    <p:sldId id="903" r:id="rId6"/>
    <p:sldId id="906" r:id="rId7"/>
    <p:sldId id="902" r:id="rId8"/>
    <p:sldId id="905" r:id="rId9"/>
    <p:sldId id="258" r:id="rId10"/>
    <p:sldId id="259" r:id="rId11"/>
    <p:sldId id="260" r:id="rId12"/>
    <p:sldId id="90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2" d="100"/>
          <a:sy n="92" d="100"/>
        </p:scale>
        <p:origin x="33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6</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18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18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18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18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18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18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18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svg"/><Relationship Id="rId7" Type="http://schemas.openxmlformats.org/officeDocument/2006/relationships/diagramQuickStyle" Target="../diagrams/quickStyle1.xml"/><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png"/><Relationship Id="rId4" Type="http://schemas.openxmlformats.org/officeDocument/2006/relationships/hyperlink" Target="https://svgsilh.com/03a9f4/image/98809.html" TargetMode="Externa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707886"/>
          </a:xfrm>
          <a:prstGeom prst="rect">
            <a:avLst/>
          </a:prstGeom>
          <a:noFill/>
          <a:effectLst>
            <a:glow rad="139700">
              <a:schemeClr val="accent2">
                <a:satMod val="175000"/>
                <a:alpha val="40000"/>
              </a:schemeClr>
            </a:glow>
          </a:effectLst>
        </p:spPr>
        <p:txBody>
          <a:bodyPr wrap="square">
            <a:spAutoFit/>
          </a:bodyPr>
          <a:lstStyle/>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17/09/2026</a:t>
            </a:r>
            <a:endParaRPr lang="en-IN" sz="600" dirty="0">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824805111"/>
              </p:ext>
            </p:extLst>
          </p:nvPr>
        </p:nvGraphicFramePr>
        <p:xfrm>
          <a:off x="8193271" y="4898509"/>
          <a:ext cx="3702050" cy="14020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M. Manasvini - 2420030475 </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N. Sreeja - 2420030267 </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M. Sahasra – 2420030459</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S. Sreeja Reddy  - 2420030548</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757281640"/>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IN" sz="1400" dirty="0"/>
                        <a:t>Ms. Prathusha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505065" y="809919"/>
            <a:ext cx="10715625" cy="954107"/>
          </a:xfrm>
          <a:prstGeom prst="rect">
            <a:avLst/>
          </a:prstGeom>
          <a:noFill/>
        </p:spPr>
        <p:txBody>
          <a:bodyPr wrap="square">
            <a:spAutoFit/>
          </a:bodyPr>
          <a:lstStyle/>
          <a:p>
            <a:pPr lvl="0" algn="ctr">
              <a:defRPr/>
            </a:pPr>
            <a:r>
              <a:rPr lang="en-IN" sz="2800" dirty="0" err="1">
                <a:latin typeface="Times New Roman" panose="02020603050405020304" pitchFamily="18" charset="0"/>
                <a:cs typeface="Times New Roman" panose="02020603050405020304" pitchFamily="18" charset="0"/>
              </a:rPr>
              <a:t>FinSight</a:t>
            </a:r>
            <a:r>
              <a:rPr lang="en-IN" sz="2800" dirty="0">
                <a:latin typeface="Times New Roman" panose="02020603050405020304" pitchFamily="18" charset="0"/>
                <a:cs typeface="Times New Roman" panose="02020603050405020304" pitchFamily="18" charset="0"/>
              </a:rPr>
              <a:t>: Explainable Credit Risk Analytics and Loan Decision Support System</a:t>
            </a:r>
            <a:endParaRPr kumimoji="0" lang="en-US" sz="2800" b="0"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DATA SCIENCE (24AD3107)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10"/>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88666A30-F501-4489-4136-90A573B775F8}"/>
              </a:ext>
            </a:extLst>
          </p:cNvPr>
          <p:cNvSpPr txBox="1"/>
          <p:nvPr/>
        </p:nvSpPr>
        <p:spPr>
          <a:xfrm>
            <a:off x="585290" y="1742961"/>
            <a:ext cx="10862428" cy="3372077"/>
          </a:xfrm>
          <a:prstGeom prst="rect">
            <a:avLst/>
          </a:prstGeom>
          <a:noFill/>
        </p:spPr>
        <p:txBody>
          <a:bodyPr wrap="square" rtlCol="0">
            <a:spAutoFit/>
          </a:bodyPr>
          <a:lstStyle/>
          <a:p>
            <a:pPr>
              <a:lnSpc>
                <a:spcPct val="150000"/>
              </a:lnSpc>
            </a:pPr>
            <a:r>
              <a:rPr lang="en-IN" sz="1600" dirty="0">
                <a:latin typeface="Times New Roman" panose="02020603050405020304" pitchFamily="18" charset="0"/>
                <a:cs typeface="Times New Roman" panose="02020603050405020304" pitchFamily="18" charset="0"/>
              </a:rPr>
              <a:t>Credit risk assessment is an important process for financial institutions to determine the likelihood of a borrower repaying a loan. Traditional credit assessment methods often depend on predefined rules and limited financial information, which may not capture complex patterns in applicant data. Machine Learning can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multiple applicant characteristics and identify patterns associated with credit risk, but many ML-based systems provide predictions without clearly explaining the reasons behind those decisions. This lack of transparency can make it difficult for users to understand and interpret the results. Therefore, there is a need for an integrated system that combines credit-risk prediction, risk scoring, explainable AI, cloud-based data analytics, and interactive visualization. </a:t>
            </a:r>
            <a:r>
              <a:rPr lang="en-IN" sz="1600" b="1" dirty="0" err="1">
                <a:latin typeface="Times New Roman" panose="02020603050405020304" pitchFamily="18" charset="0"/>
                <a:cs typeface="Times New Roman" panose="02020603050405020304" pitchFamily="18" charset="0"/>
              </a:rPr>
              <a:t>FinSight</a:t>
            </a:r>
            <a:r>
              <a:rPr lang="en-IN" sz="1600" dirty="0">
                <a:latin typeface="Times New Roman" panose="02020603050405020304" pitchFamily="18" charset="0"/>
                <a:cs typeface="Times New Roman" panose="02020603050405020304" pitchFamily="18" charset="0"/>
              </a:rPr>
              <a:t> aims to address this problem by developing a cloud-enabled credit-risk analytics system that predicts credit risk, generates an understandable risk score, identifies important factors influencing predictions using SHAP, and presents the results through an interactive dashboard.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892552" y="51488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D44559A0-8335-4718-6222-464332758008}"/>
              </a:ext>
            </a:extLst>
          </p:cNvPr>
          <p:cNvSpPr txBox="1"/>
          <p:nvPr/>
        </p:nvSpPr>
        <p:spPr>
          <a:xfrm>
            <a:off x="941832" y="1847020"/>
            <a:ext cx="9857232" cy="2954655"/>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Preprocess and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credit applicant data for identifying important risk patterns.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and compare ML models for credit-risk classification.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Evaluate models using Accuracy, Precision, Recall, F1-score and ROC-AUC.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 probability-based risk scoring system for applicants.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Apply SHAP Explainable AI to identify factors influencing predictions.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 AWS S3, Glue and Athena for cloud-based data storage and analytics.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 Flask-based interactive dashboard for analytics and risk assessment.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2C910-5469-CD95-AEB2-40C973A5DBA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7692B8-ACCA-71D3-461C-861F67FF9005}"/>
              </a:ext>
            </a:extLst>
          </p:cNvPr>
          <p:cNvSpPr txBox="1"/>
          <p:nvPr/>
        </p:nvSpPr>
        <p:spPr>
          <a:xfrm>
            <a:off x="2822448" y="90940"/>
            <a:ext cx="6096000" cy="646331"/>
          </a:xfrm>
          <a:prstGeom prst="rect">
            <a:avLst/>
          </a:prstGeom>
          <a:noFill/>
        </p:spPr>
        <p:txBody>
          <a:bodyPr wrap="square">
            <a:spAutoFit/>
          </a:bodyPr>
          <a:lstStyle/>
          <a:p>
            <a:pPr algn="ctr"/>
            <a:r>
              <a:rPr lang="en-US" sz="3600" b="1" dirty="0"/>
              <a:t>PROJECT DESIGN</a:t>
            </a:r>
          </a:p>
        </p:txBody>
      </p:sp>
      <p:pic>
        <p:nvPicPr>
          <p:cNvPr id="3" name="Picture 2">
            <a:extLst>
              <a:ext uri="{FF2B5EF4-FFF2-40B4-BE49-F238E27FC236}">
                <a16:creationId xmlns:a16="http://schemas.microsoft.com/office/drawing/2014/main" id="{4A799521-6511-34B8-5457-46769494808C}"/>
              </a:ext>
            </a:extLst>
          </p:cNvPr>
          <p:cNvPicPr>
            <a:picLocks noChangeAspect="1"/>
          </p:cNvPicPr>
          <p:nvPr/>
        </p:nvPicPr>
        <p:blipFill>
          <a:blip r:embed="rId2"/>
          <a:stretch>
            <a:fillRect/>
          </a:stretch>
        </p:blipFill>
        <p:spPr>
          <a:xfrm>
            <a:off x="10249380" y="0"/>
            <a:ext cx="1942620" cy="622550"/>
          </a:xfrm>
          <a:prstGeom prst="rect">
            <a:avLst/>
          </a:prstGeom>
        </p:spPr>
      </p:pic>
      <p:pic>
        <p:nvPicPr>
          <p:cNvPr id="7" name="Picture 6">
            <a:extLst>
              <a:ext uri="{FF2B5EF4-FFF2-40B4-BE49-F238E27FC236}">
                <a16:creationId xmlns:a16="http://schemas.microsoft.com/office/drawing/2014/main" id="{52A82738-FC35-AA3F-2AC3-9ACE144A09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8166" y="737271"/>
            <a:ext cx="8079130" cy="6080207"/>
          </a:xfrm>
          <a:prstGeom prst="rect">
            <a:avLst/>
          </a:prstGeom>
        </p:spPr>
      </p:pic>
    </p:spTree>
    <p:extLst>
      <p:ext uri="{BB962C8B-B14F-4D97-AF65-F5344CB8AC3E}">
        <p14:creationId xmlns:p14="http://schemas.microsoft.com/office/powerpoint/2010/main" val="2482440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761877954"/>
              </p:ext>
            </p:extLst>
          </p:nvPr>
        </p:nvGraphicFramePr>
        <p:xfrm>
          <a:off x="274646" y="689466"/>
          <a:ext cx="11642705" cy="5569517"/>
        </p:xfrm>
        <a:graphic>
          <a:graphicData uri="http://schemas.openxmlformats.org/drawingml/2006/table">
            <a:tbl>
              <a:tblPr firstRow="1" bandRow="1">
                <a:tableStyleId>{BC89EF96-8CEA-46FF-86C4-4CE0E7609802}</a:tableStyleId>
              </a:tblPr>
              <a:tblGrid>
                <a:gridCol w="1343842">
                  <a:extLst>
                    <a:ext uri="{9D8B030D-6E8A-4147-A177-3AD203B41FA5}">
                      <a16:colId xmlns:a16="http://schemas.microsoft.com/office/drawing/2014/main" val="20001"/>
                    </a:ext>
                  </a:extLst>
                </a:gridCol>
                <a:gridCol w="2020452">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latin typeface="Times New Roman" panose="02020603050405020304" pitchFamily="18" charset="0"/>
                          <a:cs typeface="Times New Roman" panose="02020603050405020304" pitchFamily="18" charset="0"/>
                        </a:rPr>
                        <a:t>Niklas Bussmann, Paolo Giudici, Dimitri Marinelli, Jochen </a:t>
                      </a:r>
                      <a:r>
                        <a:rPr lang="en-IN" sz="1400" dirty="0" err="1">
                          <a:latin typeface="Times New Roman" panose="02020603050405020304" pitchFamily="18" charset="0"/>
                          <a:cs typeface="Times New Roman" panose="02020603050405020304" pitchFamily="18" charset="0"/>
                        </a:rPr>
                        <a:t>Papenbrock</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“Explainable Machine Learning in Credit Risk Management”</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Applied Machine Learning for credit-risk assessment. </a:t>
                      </a:r>
                    </a:p>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endParaRPr lang="en-IN" sz="1400" dirty="0">
                        <a:latin typeface="Times New Roman" panose="02020603050405020304" pitchFamily="18" charset="0"/>
                        <a:cs typeface="Times New Roman" panose="02020603050405020304" pitchFamily="18" charset="0"/>
                      </a:endParaRP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a:t>
                      </a:r>
                      <a:r>
                        <a:rPr lang="en-IN" sz="1400" b="0" dirty="0">
                          <a:latin typeface="Times New Roman" panose="02020603050405020304" pitchFamily="18" charset="0"/>
                          <a:cs typeface="Times New Roman" panose="02020603050405020304" pitchFamily="18" charset="0"/>
                        </a:rPr>
                        <a:t>Used Shapley values (SHAP) to explain model predictions.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ML can improve credit-risk assessment. </a:t>
                      </a:r>
                    </a:p>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endParaRPr lang="en-IN" sz="1400" dirty="0">
                        <a:latin typeface="Times New Roman" panose="02020603050405020304" pitchFamily="18" charset="0"/>
                        <a:cs typeface="Times New Roman" panose="02020603050405020304" pitchFamily="18" charset="0"/>
                      </a:endParaRP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Explainability helps users understand the reasons behind predictions.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Explainability and transparency still require further development for practical financial applications.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latin typeface="Times New Roman" panose="02020603050405020304" pitchFamily="18" charset="0"/>
                          <a:cs typeface="Times New Roman" panose="02020603050405020304" pitchFamily="18" charset="0"/>
                        </a:rPr>
                        <a:t>Wei Wang, Christopher Lesner, Alexander Ran, Marko </a:t>
                      </a:r>
                      <a:r>
                        <a:rPr lang="en-IN" sz="1400" dirty="0" err="1">
                          <a:latin typeface="Times New Roman" panose="02020603050405020304" pitchFamily="18" charset="0"/>
                          <a:cs typeface="Times New Roman" panose="02020603050405020304" pitchFamily="18" charset="0"/>
                        </a:rPr>
                        <a:t>Rukonic</a:t>
                      </a:r>
                      <a:r>
                        <a:rPr lang="en-IN" sz="1400" dirty="0">
                          <a:latin typeface="Times New Roman" panose="02020603050405020304" pitchFamily="18" charset="0"/>
                          <a:cs typeface="Times New Roman" panose="02020603050405020304" pitchFamily="18" charset="0"/>
                        </a:rPr>
                        <a:t>, Jason Xue, Eric Shiu</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“Using Small Business Banking Data for Explainable Credit Risk Scoring”</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 Used </a:t>
                      </a:r>
                      <a:r>
                        <a:rPr lang="en-IN" sz="1400" b="0" dirty="0" err="1">
                          <a:latin typeface="Times New Roman" panose="02020603050405020304" pitchFamily="18" charset="0"/>
                          <a:cs typeface="Times New Roman" panose="02020603050405020304" pitchFamily="18" charset="0"/>
                        </a:rPr>
                        <a:t>XGBoost</a:t>
                      </a:r>
                      <a:r>
                        <a:rPr lang="en-IN" sz="1400" b="0" dirty="0">
                          <a:latin typeface="Times New Roman" panose="02020603050405020304" pitchFamily="18" charset="0"/>
                          <a:cs typeface="Times New Roman" panose="02020603050405020304" pitchFamily="18" charset="0"/>
                        </a:rPr>
                        <a:t> for credit-risk scoring. </a:t>
                      </a:r>
                      <a:br>
                        <a:rPr lang="en-IN" sz="1400" b="0" dirty="0">
                          <a:latin typeface="Times New Roman" panose="02020603050405020304" pitchFamily="18" charset="0"/>
                          <a:cs typeface="Times New Roman" panose="02020603050405020304" pitchFamily="18" charset="0"/>
                        </a:rPr>
                      </a:br>
                      <a:endParaRPr lang="en-IN" sz="1400" b="0" dirty="0">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 Applied SHAP to explain individual credit-risk predictions.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ML can be used effectively for credit-risk scoring. </a:t>
                      </a:r>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SHAP provides understandable explanations for model decisions.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Focuses on small-business banking data; broader datasets and applications can be explored. </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latin typeface="Times New Roman" panose="02020603050405020304" pitchFamily="18" charset="0"/>
                          <a:cs typeface="Times New Roman" panose="02020603050405020304" pitchFamily="18" charset="0"/>
                        </a:rPr>
                        <a:t>Si Shi, Rita Tse, </a:t>
                      </a:r>
                      <a:r>
                        <a:rPr lang="en-IN" sz="1400" dirty="0" err="1">
                          <a:latin typeface="Times New Roman" panose="02020603050405020304" pitchFamily="18" charset="0"/>
                          <a:cs typeface="Times New Roman" panose="02020603050405020304" pitchFamily="18" charset="0"/>
                        </a:rPr>
                        <a:t>Wuman</a:t>
                      </a:r>
                      <a:r>
                        <a:rPr lang="en-IN" sz="1400" dirty="0">
                          <a:latin typeface="Times New Roman" panose="02020603050405020304" pitchFamily="18" charset="0"/>
                          <a:cs typeface="Times New Roman" panose="02020603050405020304" pitchFamily="18" charset="0"/>
                        </a:rPr>
                        <a:t> Luo, Stefano D’Addona, Giovanni Pau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“Machine learning-driven credit risk: a systemic review”</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Reviewed statistical, Machine Learning and Deep Learning techniques for credit risk.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Compared challenges related to datasets, performance and model transparency.</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ML provides several approaches for credit-risk prediction.</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br>
                        <a:rPr lang="en-IN" sz="1400" b="0" dirty="0">
                          <a:latin typeface="Times New Roman" panose="02020603050405020304" pitchFamily="18" charset="0"/>
                          <a:cs typeface="Times New Roman" panose="02020603050405020304" pitchFamily="18" charset="0"/>
                        </a:rPr>
                      </a:br>
                      <a:r>
                        <a:rPr lang="en-IN" sz="1400" b="0" dirty="0">
                          <a:latin typeface="Times New Roman" panose="02020603050405020304" pitchFamily="18" charset="0"/>
                          <a:cs typeface="Times New Roman" panose="02020603050405020304" pitchFamily="18" charset="0"/>
                        </a:rPr>
                        <a:t>Data quality and model interpretability remain important challenges.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Highlights the need for further research into ML methods and their limitations.</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6</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4C3B11-D22C-FF15-001F-F4D2C6E79826}"/>
              </a:ext>
            </a:extLst>
          </p:cNvPr>
          <p:cNvSpPr txBox="1"/>
          <p:nvPr/>
        </p:nvSpPr>
        <p:spPr>
          <a:xfrm>
            <a:off x="566928" y="704088"/>
            <a:ext cx="6437376" cy="6278642"/>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Dataset — German Credit Data</a:t>
            </a:r>
          </a:p>
          <a:p>
            <a:pPr lvl="0">
              <a:lnSpc>
                <a:spcPct val="150000"/>
              </a:lnSpc>
            </a:pPr>
            <a:r>
              <a:rPr lang="en-IN" sz="1600" b="1" dirty="0">
                <a:latin typeface="Times New Roman" panose="02020603050405020304" pitchFamily="18" charset="0"/>
                <a:cs typeface="Times New Roman" panose="02020603050405020304" pitchFamily="18" charset="0"/>
              </a:rPr>
              <a:t>Source:</a:t>
            </a:r>
            <a:r>
              <a:rPr lang="en-IN" sz="1600" dirty="0">
                <a:latin typeface="Times New Roman" panose="02020603050405020304" pitchFamily="18" charset="0"/>
                <a:cs typeface="Times New Roman" panose="02020603050405020304" pitchFamily="18" charset="0"/>
              </a:rPr>
              <a:t> UCI Machine Learning Repository </a:t>
            </a:r>
          </a:p>
          <a:p>
            <a:pPr lvl="0">
              <a:lnSpc>
                <a:spcPct val="150000"/>
              </a:lnSpc>
            </a:pPr>
            <a:r>
              <a:rPr lang="en-IN" sz="1600" b="1" dirty="0">
                <a:latin typeface="Times New Roman" panose="02020603050405020304" pitchFamily="18" charset="0"/>
                <a:cs typeface="Times New Roman" panose="02020603050405020304" pitchFamily="18" charset="0"/>
              </a:rPr>
              <a:t>Domain:</a:t>
            </a:r>
            <a:r>
              <a:rPr lang="en-IN" sz="1600" dirty="0">
                <a:latin typeface="Times New Roman" panose="02020603050405020304" pitchFamily="18" charset="0"/>
                <a:cs typeface="Times New Roman" panose="02020603050405020304" pitchFamily="18" charset="0"/>
              </a:rPr>
              <a:t> Credit Risk </a:t>
            </a:r>
          </a:p>
          <a:p>
            <a:pPr lvl="0">
              <a:lnSpc>
                <a:spcPct val="150000"/>
              </a:lnSpc>
            </a:pPr>
            <a:r>
              <a:rPr lang="en-IN" sz="1600" b="1" dirty="0">
                <a:latin typeface="Times New Roman" panose="02020603050405020304" pitchFamily="18" charset="0"/>
                <a:cs typeface="Times New Roman" panose="02020603050405020304" pitchFamily="18" charset="0"/>
              </a:rPr>
              <a:t>Records:</a:t>
            </a:r>
            <a:r>
              <a:rPr lang="en-IN" sz="1600" dirty="0">
                <a:latin typeface="Times New Roman" panose="02020603050405020304" pitchFamily="18" charset="0"/>
                <a:cs typeface="Times New Roman" panose="02020603050405020304" pitchFamily="18" charset="0"/>
              </a:rPr>
              <a:t> 1,000 applicants </a:t>
            </a:r>
          </a:p>
          <a:p>
            <a:pPr lvl="0">
              <a:lnSpc>
                <a:spcPct val="150000"/>
              </a:lnSpc>
            </a:pPr>
            <a:r>
              <a:rPr lang="en-IN" sz="1600" b="1" dirty="0">
                <a:latin typeface="Times New Roman" panose="02020603050405020304" pitchFamily="18" charset="0"/>
                <a:cs typeface="Times New Roman" panose="02020603050405020304" pitchFamily="18" charset="0"/>
              </a:rPr>
              <a:t>Features:</a:t>
            </a:r>
            <a:r>
              <a:rPr lang="en-IN" sz="1600" dirty="0">
                <a:latin typeface="Times New Roman" panose="02020603050405020304" pitchFamily="18" charset="0"/>
                <a:cs typeface="Times New Roman" panose="02020603050405020304" pitchFamily="18" charset="0"/>
              </a:rPr>
              <a:t> 20 input attributes </a:t>
            </a:r>
          </a:p>
          <a:p>
            <a:pPr lvl="0">
              <a:lnSpc>
                <a:spcPct val="150000"/>
              </a:lnSpc>
            </a:pPr>
            <a:r>
              <a:rPr lang="en-IN" sz="1600" b="1" dirty="0">
                <a:latin typeface="Times New Roman" panose="02020603050405020304" pitchFamily="18" charset="0"/>
                <a:cs typeface="Times New Roman" panose="02020603050405020304" pitchFamily="18" charset="0"/>
              </a:rPr>
              <a:t>Target:</a:t>
            </a:r>
            <a:r>
              <a:rPr lang="en-IN" sz="1600" dirty="0">
                <a:latin typeface="Times New Roman" panose="02020603050405020304" pitchFamily="18" charset="0"/>
                <a:cs typeface="Times New Roman" panose="02020603050405020304" pitchFamily="18" charset="0"/>
              </a:rPr>
              <a:t> Good / Bad Credit Risk </a:t>
            </a:r>
          </a:p>
          <a:p>
            <a:pPr lvl="0">
              <a:lnSpc>
                <a:spcPct val="150000"/>
              </a:lnSpc>
            </a:pPr>
            <a:r>
              <a:rPr lang="en-IN" sz="1600" dirty="0">
                <a:latin typeface="Times New Roman" panose="02020603050405020304" pitchFamily="18" charset="0"/>
                <a:cs typeface="Times New Roman" panose="02020603050405020304" pitchFamily="18" charset="0"/>
              </a:rPr>
              <a:t>Contains both </a:t>
            </a:r>
            <a:r>
              <a:rPr lang="en-IN" sz="1600" b="1" dirty="0">
                <a:latin typeface="Times New Roman" panose="02020603050405020304" pitchFamily="18" charset="0"/>
                <a:cs typeface="Times New Roman" panose="02020603050405020304" pitchFamily="18" charset="0"/>
              </a:rPr>
              <a:t>numerical and categorical attributes</a:t>
            </a:r>
            <a:r>
              <a:rPr lang="en-IN" sz="1600" dirty="0">
                <a:latin typeface="Times New Roman" panose="02020603050405020304" pitchFamily="18" charset="0"/>
                <a:cs typeface="Times New Roman" panose="02020603050405020304" pitchFamily="18" charset="0"/>
              </a:rPr>
              <a:t> </a:t>
            </a:r>
          </a:p>
          <a:p>
            <a:pPr>
              <a:lnSpc>
                <a:spcPct val="150000"/>
              </a:lnSpc>
            </a:pPr>
            <a:r>
              <a:rPr lang="en-IN" sz="1600" b="1" dirty="0">
                <a:latin typeface="Times New Roman" panose="02020603050405020304" pitchFamily="18" charset="0"/>
                <a:cs typeface="Times New Roman" panose="02020603050405020304" pitchFamily="18" charset="0"/>
              </a:rPr>
              <a:t>Example Attributes</a:t>
            </a:r>
          </a:p>
          <a:p>
            <a:pPr lvl="0">
              <a:lnSpc>
                <a:spcPct val="150000"/>
              </a:lnSpc>
            </a:pPr>
            <a:r>
              <a:rPr lang="en-IN" sz="1600" dirty="0">
                <a:latin typeface="Times New Roman" panose="02020603050405020304" pitchFamily="18" charset="0"/>
                <a:cs typeface="Times New Roman" panose="02020603050405020304" pitchFamily="18" charset="0"/>
              </a:rPr>
              <a:t>Credit amount </a:t>
            </a:r>
          </a:p>
          <a:p>
            <a:pPr lvl="0">
              <a:lnSpc>
                <a:spcPct val="150000"/>
              </a:lnSpc>
            </a:pPr>
            <a:r>
              <a:rPr lang="en-IN" sz="1600" dirty="0">
                <a:latin typeface="Times New Roman" panose="02020603050405020304" pitchFamily="18" charset="0"/>
                <a:cs typeface="Times New Roman" panose="02020603050405020304" pitchFamily="18" charset="0"/>
              </a:rPr>
              <a:t>Duration </a:t>
            </a:r>
          </a:p>
          <a:p>
            <a:pPr lvl="0">
              <a:lnSpc>
                <a:spcPct val="150000"/>
              </a:lnSpc>
            </a:pPr>
            <a:r>
              <a:rPr lang="en-IN" sz="1600" dirty="0">
                <a:latin typeface="Times New Roman" panose="02020603050405020304" pitchFamily="18" charset="0"/>
                <a:cs typeface="Times New Roman" panose="02020603050405020304" pitchFamily="18" charset="0"/>
              </a:rPr>
              <a:t>Credit history </a:t>
            </a:r>
          </a:p>
          <a:p>
            <a:pPr lvl="0">
              <a:lnSpc>
                <a:spcPct val="150000"/>
              </a:lnSpc>
            </a:pPr>
            <a:r>
              <a:rPr lang="en-IN" sz="1600" dirty="0">
                <a:latin typeface="Times New Roman" panose="02020603050405020304" pitchFamily="18" charset="0"/>
                <a:cs typeface="Times New Roman" panose="02020603050405020304" pitchFamily="18" charset="0"/>
              </a:rPr>
              <a:t>Savings </a:t>
            </a:r>
          </a:p>
          <a:p>
            <a:pPr lvl="0">
              <a:lnSpc>
                <a:spcPct val="150000"/>
              </a:lnSpc>
            </a:pPr>
            <a:r>
              <a:rPr lang="en-IN" sz="1600" dirty="0">
                <a:latin typeface="Times New Roman" panose="02020603050405020304" pitchFamily="18" charset="0"/>
                <a:cs typeface="Times New Roman" panose="02020603050405020304" pitchFamily="18" charset="0"/>
              </a:rPr>
              <a:t>Employment </a:t>
            </a:r>
          </a:p>
          <a:p>
            <a:pPr lvl="0">
              <a:lnSpc>
                <a:spcPct val="150000"/>
              </a:lnSpc>
            </a:pPr>
            <a:r>
              <a:rPr lang="en-IN" sz="1600" dirty="0">
                <a:latin typeface="Times New Roman" panose="02020603050405020304" pitchFamily="18" charset="0"/>
                <a:cs typeface="Times New Roman" panose="02020603050405020304" pitchFamily="18" charset="0"/>
              </a:rPr>
              <a:t>Age </a:t>
            </a:r>
          </a:p>
          <a:p>
            <a:pPr lvl="0">
              <a:lnSpc>
                <a:spcPct val="150000"/>
              </a:lnSpc>
            </a:pPr>
            <a:r>
              <a:rPr lang="en-IN" sz="1600" dirty="0">
                <a:latin typeface="Times New Roman" panose="02020603050405020304" pitchFamily="18" charset="0"/>
                <a:cs typeface="Times New Roman" panose="02020603050405020304" pitchFamily="18" charset="0"/>
              </a:rPr>
              <a:t>Housing </a:t>
            </a:r>
          </a:p>
          <a:p>
            <a:pPr lvl="0">
              <a:lnSpc>
                <a:spcPct val="150000"/>
              </a:lnSpc>
            </a:pPr>
            <a:r>
              <a:rPr lang="en-IN" sz="1600" dirty="0">
                <a:latin typeface="Times New Roman" panose="02020603050405020304" pitchFamily="18" charset="0"/>
                <a:cs typeface="Times New Roman" panose="02020603050405020304" pitchFamily="18" charset="0"/>
              </a:rPr>
              <a:t>Loan purpose </a:t>
            </a:r>
          </a:p>
          <a:p>
            <a:endParaRPr lang="en-IN" dirty="0"/>
          </a:p>
        </p:txBody>
      </p:sp>
      <p:sp>
        <p:nvSpPr>
          <p:cNvPr id="3" name="TextBox 2">
            <a:extLst>
              <a:ext uri="{FF2B5EF4-FFF2-40B4-BE49-F238E27FC236}">
                <a16:creationId xmlns:a16="http://schemas.microsoft.com/office/drawing/2014/main" id="{645525FE-F975-ECC3-ADA3-6EC6CF7155F4}"/>
              </a:ext>
            </a:extLst>
          </p:cNvPr>
          <p:cNvSpPr txBox="1"/>
          <p:nvPr/>
        </p:nvSpPr>
        <p:spPr>
          <a:xfrm>
            <a:off x="4852881" y="0"/>
            <a:ext cx="2023952" cy="707886"/>
          </a:xfrm>
          <a:prstGeom prst="rect">
            <a:avLst/>
          </a:prstGeom>
          <a:noFill/>
        </p:spPr>
        <p:txBody>
          <a:bodyPr wrap="none" rtlCol="0">
            <a:spAutoFit/>
          </a:bodyPr>
          <a:lstStyle/>
          <a:p>
            <a:r>
              <a:rPr lang="en-IN" sz="4000" b="1" dirty="0"/>
              <a:t>Dataset</a:t>
            </a:r>
          </a:p>
        </p:txBody>
      </p:sp>
    </p:spTree>
    <p:extLst>
      <p:ext uri="{BB962C8B-B14F-4D97-AF65-F5344CB8AC3E}">
        <p14:creationId xmlns:p14="http://schemas.microsoft.com/office/powerpoint/2010/main" val="351167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773680" y="336747"/>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7F43B7E5-F935-F1F1-7F16-9BC24442C1EE}"/>
              </a:ext>
            </a:extLst>
          </p:cNvPr>
          <p:cNvSpPr txBox="1"/>
          <p:nvPr/>
        </p:nvSpPr>
        <p:spPr>
          <a:xfrm>
            <a:off x="574392" y="1462479"/>
            <a:ext cx="11469649" cy="4062651"/>
          </a:xfrm>
          <a:prstGeom prst="rect">
            <a:avLst/>
          </a:prstGeom>
          <a:noFill/>
        </p:spPr>
        <p:txBody>
          <a:bodyPr wrap="square" rtlCol="0">
            <a:spAutoFit/>
          </a:bodyPr>
          <a:lstStyle/>
          <a:p>
            <a:pPr lvl="0">
              <a:lnSpc>
                <a:spcPct val="150000"/>
              </a:lnSpc>
            </a:pPr>
            <a:r>
              <a:rPr lang="en-IN" sz="1600" dirty="0">
                <a:latin typeface="Times New Roman" panose="02020603050405020304" pitchFamily="18" charset="0"/>
                <a:cs typeface="Times New Roman" panose="02020603050405020304" pitchFamily="18" charset="0"/>
              </a:rPr>
              <a:t>Many basic credit-risk systems focus mainly on prediction accuracy. </a:t>
            </a:r>
          </a:p>
          <a:p>
            <a:pPr lvl="0">
              <a:lnSpc>
                <a:spcPct val="150000"/>
              </a:lnSpc>
            </a:pPr>
            <a:r>
              <a:rPr lang="en-IN" sz="1600" dirty="0">
                <a:latin typeface="Times New Roman" panose="02020603050405020304" pitchFamily="18" charset="0"/>
                <a:cs typeface="Times New Roman" panose="02020603050405020304" pitchFamily="18" charset="0"/>
              </a:rPr>
              <a:t>Prediction alone does not explain why an applicant receives a particular risk classification. </a:t>
            </a:r>
          </a:p>
          <a:p>
            <a:pPr lvl="0">
              <a:lnSpc>
                <a:spcPct val="150000"/>
              </a:lnSpc>
            </a:pPr>
            <a:r>
              <a:rPr lang="en-IN" sz="1600" dirty="0">
                <a:latin typeface="Times New Roman" panose="02020603050405020304" pitchFamily="18" charset="0"/>
                <a:cs typeface="Times New Roman" panose="02020603050405020304" pitchFamily="18" charset="0"/>
              </a:rPr>
              <a:t>Limited integration between credit-risk ML, explainability and interactive decision support in simple student prototypes. </a:t>
            </a:r>
          </a:p>
          <a:p>
            <a:pPr lvl="0">
              <a:lnSpc>
                <a:spcPct val="150000"/>
              </a:lnSpc>
            </a:pPr>
            <a:r>
              <a:rPr lang="en-IN" sz="1600" dirty="0">
                <a:latin typeface="Times New Roman" panose="02020603050405020304" pitchFamily="18" charset="0"/>
                <a:cs typeface="Times New Roman" panose="02020603050405020304" pitchFamily="18" charset="0"/>
              </a:rPr>
              <a:t>Different classification errors can have different consequences in credit-risk assessment. </a:t>
            </a:r>
          </a:p>
          <a:p>
            <a:pPr lvl="0">
              <a:lnSpc>
                <a:spcPct val="150000"/>
              </a:lnSpc>
            </a:pPr>
            <a:r>
              <a:rPr lang="en-IN" sz="1600" dirty="0">
                <a:latin typeface="Times New Roman" panose="02020603050405020304" pitchFamily="18" charset="0"/>
                <a:cs typeface="Times New Roman" panose="02020603050405020304" pitchFamily="18" charset="0"/>
              </a:rPr>
              <a:t>Many implementations lack an integrated cloud analytics layer. </a:t>
            </a:r>
          </a:p>
          <a:p>
            <a:pPr lvl="0">
              <a:lnSpc>
                <a:spcPct val="150000"/>
              </a:lnSpc>
            </a:pPr>
            <a:r>
              <a:rPr lang="en-IN" sz="1600" dirty="0">
                <a:latin typeface="Times New Roman" panose="02020603050405020304" pitchFamily="18" charset="0"/>
                <a:cs typeface="Times New Roman" panose="02020603050405020304" pitchFamily="18" charset="0"/>
              </a:rPr>
              <a:t>There is scope for combining risk prediction + risk scoring + SHAP explanations + cloud analytics within one system. </a:t>
            </a:r>
          </a:p>
          <a:p>
            <a:pPr lvl="0">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Gap addressed by </a:t>
            </a:r>
            <a:r>
              <a:rPr lang="en-IN" sz="1600" dirty="0" err="1">
                <a:latin typeface="Times New Roman" panose="02020603050405020304" pitchFamily="18" charset="0"/>
                <a:cs typeface="Times New Roman" panose="02020603050405020304" pitchFamily="18" charset="0"/>
              </a:rPr>
              <a:t>FinSight</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err="1">
                <a:latin typeface="Times New Roman" panose="02020603050405020304" pitchFamily="18" charset="0"/>
                <a:cs typeface="Times New Roman" panose="02020603050405020304" pitchFamily="18" charset="0"/>
              </a:rPr>
              <a:t>FinSight</a:t>
            </a:r>
            <a:r>
              <a:rPr lang="en-IN" sz="1600" dirty="0">
                <a:latin typeface="Times New Roman" panose="02020603050405020304" pitchFamily="18" charset="0"/>
                <a:cs typeface="Times New Roman" panose="02020603050405020304" pitchFamily="18" charset="0"/>
              </a:rPr>
              <a:t> integrates predictive ML, explainability, risk scoring, cloud analytics and interactive visualization into a single educational decision-support system</a:t>
            </a:r>
          </a:p>
          <a:p>
            <a:endParaRPr lang="en-IN" dirty="0"/>
          </a:p>
        </p:txBody>
      </p:sp>
    </p:spTree>
    <p:extLst>
      <p:ext uri="{BB962C8B-B14F-4D97-AF65-F5344CB8AC3E}">
        <p14:creationId xmlns:p14="http://schemas.microsoft.com/office/powerpoint/2010/main" val="2065876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43501" y="299384"/>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998E5106-512A-9EF9-5176-C336CB1187B2}"/>
              </a:ext>
            </a:extLst>
          </p:cNvPr>
          <p:cNvSpPr txBox="1"/>
          <p:nvPr/>
        </p:nvSpPr>
        <p:spPr>
          <a:xfrm>
            <a:off x="731520" y="948690"/>
            <a:ext cx="11797226" cy="5539978"/>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1. Explainable Credit Risk</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Uses SHAP to show the factors influencing individual predictions.</a:t>
            </a:r>
          </a:p>
          <a:p>
            <a:pPr>
              <a:lnSpc>
                <a:spcPct val="150000"/>
              </a:lnSpc>
            </a:pPr>
            <a:r>
              <a:rPr lang="en-IN" sz="1600" b="1" dirty="0">
                <a:latin typeface="Times New Roman" panose="02020603050405020304" pitchFamily="18" charset="0"/>
                <a:cs typeface="Times New Roman" panose="02020603050405020304" pitchFamily="18" charset="0"/>
              </a:rPr>
              <a:t>2. Risk Score</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Converts model probability into an understandable </a:t>
            </a:r>
            <a:r>
              <a:rPr lang="en-IN" sz="1600" b="1" dirty="0">
                <a:latin typeface="Times New Roman" panose="02020603050405020304" pitchFamily="18" charset="0"/>
                <a:cs typeface="Times New Roman" panose="02020603050405020304" pitchFamily="18" charset="0"/>
              </a:rPr>
              <a:t>0–100 risk score</a:t>
            </a:r>
            <a:r>
              <a:rPr lang="en-IN" sz="1600" dirty="0">
                <a:latin typeface="Times New Roman" panose="02020603050405020304" pitchFamily="18" charset="0"/>
                <a:cs typeface="Times New Roman" panose="02020603050405020304" pitchFamily="18" charset="0"/>
              </a:rPr>
              <a:t>.</a:t>
            </a:r>
          </a:p>
          <a:p>
            <a:pPr>
              <a:lnSpc>
                <a:spcPct val="150000"/>
              </a:lnSpc>
            </a:pPr>
            <a:r>
              <a:rPr lang="en-IN" sz="1600" b="1" dirty="0">
                <a:latin typeface="Times New Roman" panose="02020603050405020304" pitchFamily="18" charset="0"/>
                <a:cs typeface="Times New Roman" panose="02020603050405020304" pitchFamily="18" charset="0"/>
              </a:rPr>
              <a:t>3. What-If Risk Analysis</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Allows selected applicant attributes to be changed and shows how the model's predicted risk changes.</a:t>
            </a:r>
          </a:p>
          <a:p>
            <a:pPr>
              <a:lnSpc>
                <a:spcPct val="150000"/>
              </a:lnSpc>
            </a:pPr>
            <a:r>
              <a:rPr lang="en-IN" sz="1600" b="1" dirty="0">
                <a:latin typeface="Times New Roman" panose="02020603050405020304" pitchFamily="18" charset="0"/>
                <a:cs typeface="Times New Roman" panose="02020603050405020304" pitchFamily="18" charset="0"/>
              </a:rPr>
              <a:t>4. Cost-Sensitive Evaluation</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Considers the different consequences of misclassifying risky and non-risky applicants.</a:t>
            </a:r>
          </a:p>
          <a:p>
            <a:pPr>
              <a:lnSpc>
                <a:spcPct val="150000"/>
              </a:lnSpc>
            </a:pPr>
            <a:r>
              <a:rPr lang="en-IN" sz="1600" b="1" dirty="0">
                <a:latin typeface="Times New Roman" panose="02020603050405020304" pitchFamily="18" charset="0"/>
                <a:cs typeface="Times New Roman" panose="02020603050405020304" pitchFamily="18" charset="0"/>
              </a:rPr>
              <a:t>5. Cloud-Based Analytics</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Uses:</a:t>
            </a:r>
          </a:p>
          <a:p>
            <a:pPr>
              <a:lnSpc>
                <a:spcPct val="150000"/>
              </a:lnSpc>
            </a:pPr>
            <a:r>
              <a:rPr lang="en-IN" sz="1600" b="1" dirty="0">
                <a:latin typeface="Times New Roman" panose="02020603050405020304" pitchFamily="18" charset="0"/>
                <a:cs typeface="Times New Roman" panose="02020603050405020304" pitchFamily="18" charset="0"/>
              </a:rPr>
              <a:t>Amazon S3 → AWS Glue → Amazon Athena</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for data storage, </a:t>
            </a:r>
            <a:r>
              <a:rPr lang="en-IN" sz="1600" dirty="0" err="1">
                <a:latin typeface="Times New Roman" panose="02020603050405020304" pitchFamily="18" charset="0"/>
                <a:cs typeface="Times New Roman" panose="02020603050405020304" pitchFamily="18" charset="0"/>
              </a:rPr>
              <a:t>cataloging</a:t>
            </a:r>
            <a:r>
              <a:rPr lang="en-IN" sz="1600" dirty="0">
                <a:latin typeface="Times New Roman" panose="02020603050405020304" pitchFamily="18" charset="0"/>
                <a:cs typeface="Times New Roman" panose="02020603050405020304" pitchFamily="18" charset="0"/>
              </a:rPr>
              <a:t> and SQL analysis.</a:t>
            </a:r>
          </a:p>
          <a:p>
            <a:pPr>
              <a:lnSpc>
                <a:spcPct val="150000"/>
              </a:lnSpc>
            </a:pPr>
            <a:r>
              <a:rPr lang="en-IN" sz="1600" b="1" dirty="0">
                <a:latin typeface="Times New Roman" panose="02020603050405020304" pitchFamily="18" charset="0"/>
                <a:cs typeface="Times New Roman" panose="02020603050405020304" pitchFamily="18" charset="0"/>
              </a:rPr>
              <a:t>6. Integrated Web Application</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Flask combines analytics, prediction, explainability and model evaluation into one interface</a:t>
            </a:r>
          </a:p>
          <a:p>
            <a:endParaRPr lang="en-IN" dirty="0"/>
          </a:p>
        </p:txBody>
      </p:sp>
    </p:spTree>
    <p:extLst>
      <p:ext uri="{BB962C8B-B14F-4D97-AF65-F5344CB8AC3E}">
        <p14:creationId xmlns:p14="http://schemas.microsoft.com/office/powerpoint/2010/main" val="352413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395924" y="160284"/>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TextBox 2">
            <a:extLst>
              <a:ext uri="{FF2B5EF4-FFF2-40B4-BE49-F238E27FC236}">
                <a16:creationId xmlns:a16="http://schemas.microsoft.com/office/drawing/2014/main" id="{0D33FE9F-177C-F6B0-E6B6-213A7D5492B7}"/>
              </a:ext>
            </a:extLst>
          </p:cNvPr>
          <p:cNvSpPr txBox="1"/>
          <p:nvPr/>
        </p:nvSpPr>
        <p:spPr>
          <a:xfrm>
            <a:off x="685800" y="987297"/>
            <a:ext cx="7717536" cy="5170646"/>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Technical Feasibility</a:t>
            </a:r>
          </a:p>
          <a:p>
            <a:pPr lvl="0">
              <a:lnSpc>
                <a:spcPct val="150000"/>
              </a:lnSpc>
            </a:pPr>
            <a:r>
              <a:rPr lang="en-IN" sz="1600" dirty="0">
                <a:latin typeface="Times New Roman" panose="02020603050405020304" pitchFamily="18" charset="0"/>
                <a:cs typeface="Times New Roman" panose="02020603050405020304" pitchFamily="18" charset="0"/>
              </a:rPr>
              <a:t>Uses established Python ML libraries. </a:t>
            </a:r>
          </a:p>
          <a:p>
            <a:pPr lvl="0">
              <a:lnSpc>
                <a:spcPct val="150000"/>
              </a:lnSpc>
            </a:pPr>
            <a:r>
              <a:rPr lang="en-IN" sz="1600" dirty="0">
                <a:latin typeface="Times New Roman" panose="02020603050405020304" pitchFamily="18" charset="0"/>
                <a:cs typeface="Times New Roman" panose="02020603050405020304" pitchFamily="18" charset="0"/>
              </a:rPr>
              <a:t>Dataset is publicly available and manageable in size. </a:t>
            </a:r>
          </a:p>
          <a:p>
            <a:pPr lvl="0">
              <a:lnSpc>
                <a:spcPct val="150000"/>
              </a:lnSpc>
            </a:pPr>
            <a:r>
              <a:rPr lang="en-IN" sz="1600" dirty="0">
                <a:latin typeface="Times New Roman" panose="02020603050405020304" pitchFamily="18" charset="0"/>
                <a:cs typeface="Times New Roman" panose="02020603050405020304" pitchFamily="18" charset="0"/>
              </a:rPr>
              <a:t>Flask provides a lightweight web framework. </a:t>
            </a:r>
          </a:p>
          <a:p>
            <a:pPr lvl="0">
              <a:lnSpc>
                <a:spcPct val="150000"/>
              </a:lnSpc>
            </a:pPr>
            <a:r>
              <a:rPr lang="en-IN" sz="1600" dirty="0">
                <a:latin typeface="Times New Roman" panose="02020603050405020304" pitchFamily="18" charset="0"/>
                <a:cs typeface="Times New Roman" panose="02020603050405020304" pitchFamily="18" charset="0"/>
              </a:rPr>
              <a:t>AWS services provide scalable cloud data management. </a:t>
            </a:r>
          </a:p>
          <a:p>
            <a:pPr>
              <a:lnSpc>
                <a:spcPct val="150000"/>
              </a:lnSpc>
            </a:pPr>
            <a:r>
              <a:rPr lang="en-IN" sz="1600" b="1" dirty="0">
                <a:latin typeface="Times New Roman" panose="02020603050405020304" pitchFamily="18" charset="0"/>
                <a:cs typeface="Times New Roman" panose="02020603050405020304" pitchFamily="18" charset="0"/>
              </a:rPr>
              <a:t>Operational Feasibility</a:t>
            </a:r>
          </a:p>
          <a:p>
            <a:pPr lvl="0">
              <a:lnSpc>
                <a:spcPct val="150000"/>
              </a:lnSpc>
            </a:pPr>
            <a:r>
              <a:rPr lang="en-IN" sz="1600" dirty="0">
                <a:latin typeface="Times New Roman" panose="02020603050405020304" pitchFamily="18" charset="0"/>
                <a:cs typeface="Times New Roman" panose="02020603050405020304" pitchFamily="18" charset="0"/>
              </a:rPr>
              <a:t>Simple browser-based interface. </a:t>
            </a:r>
          </a:p>
          <a:p>
            <a:pPr lvl="0">
              <a:lnSpc>
                <a:spcPct val="150000"/>
              </a:lnSpc>
            </a:pPr>
            <a:r>
              <a:rPr lang="en-IN" sz="1600" dirty="0">
                <a:latin typeface="Times New Roman" panose="02020603050405020304" pitchFamily="18" charset="0"/>
                <a:cs typeface="Times New Roman" panose="02020603050405020304" pitchFamily="18" charset="0"/>
              </a:rPr>
              <a:t>Risk predictions are accompanied by explanations. </a:t>
            </a:r>
          </a:p>
          <a:p>
            <a:pPr lvl="0">
              <a:lnSpc>
                <a:spcPct val="150000"/>
              </a:lnSpc>
            </a:pPr>
            <a:r>
              <a:rPr lang="en-IN" sz="1600" dirty="0">
                <a:latin typeface="Times New Roman" panose="02020603050405020304" pitchFamily="18" charset="0"/>
                <a:cs typeface="Times New Roman" panose="02020603050405020304" pitchFamily="18" charset="0"/>
              </a:rPr>
              <a:t>No specialized hardware is required. </a:t>
            </a:r>
          </a:p>
          <a:p>
            <a:pPr>
              <a:lnSpc>
                <a:spcPct val="150000"/>
              </a:lnSpc>
            </a:pPr>
            <a:r>
              <a:rPr lang="en-IN" sz="1600" b="1" dirty="0">
                <a:latin typeface="Times New Roman" panose="02020603050405020304" pitchFamily="18" charset="0"/>
                <a:cs typeface="Times New Roman" panose="02020603050405020304" pitchFamily="18" charset="0"/>
              </a:rPr>
              <a:t>Economic Feasibility</a:t>
            </a:r>
          </a:p>
          <a:p>
            <a:pPr lvl="0">
              <a:lnSpc>
                <a:spcPct val="150000"/>
              </a:lnSpc>
            </a:pPr>
            <a:r>
              <a:rPr lang="en-IN" sz="1600" dirty="0">
                <a:latin typeface="Times New Roman" panose="02020603050405020304" pitchFamily="18" charset="0"/>
                <a:cs typeface="Times New Roman" panose="02020603050405020304" pitchFamily="18" charset="0"/>
              </a:rPr>
              <a:t>Primarily uses open-source Python libraries. </a:t>
            </a:r>
          </a:p>
          <a:p>
            <a:pPr lvl="0">
              <a:lnSpc>
                <a:spcPct val="150000"/>
              </a:lnSpc>
            </a:pPr>
            <a:r>
              <a:rPr lang="en-IN" sz="1600" dirty="0">
                <a:latin typeface="Times New Roman" panose="02020603050405020304" pitchFamily="18" charset="0"/>
                <a:cs typeface="Times New Roman" panose="02020603050405020304" pitchFamily="18" charset="0"/>
              </a:rPr>
              <a:t>Small academic dataset keeps cloud resource requirements limited. </a:t>
            </a:r>
          </a:p>
          <a:p>
            <a:pPr lvl="0">
              <a:lnSpc>
                <a:spcPct val="150000"/>
              </a:lnSpc>
            </a:pPr>
            <a:r>
              <a:rPr lang="en-IN" sz="1600" dirty="0">
                <a:latin typeface="Times New Roman" panose="02020603050405020304" pitchFamily="18" charset="0"/>
                <a:cs typeface="Times New Roman" panose="02020603050405020304" pitchFamily="18" charset="0"/>
              </a:rPr>
              <a:t>Suitable for low-cost prototype implementation.</a:t>
            </a:r>
          </a:p>
          <a:p>
            <a:endParaRPr lang="en-IN" dirty="0"/>
          </a:p>
        </p:txBody>
      </p:sp>
    </p:spTree>
    <p:extLst>
      <p:ext uri="{BB962C8B-B14F-4D97-AF65-F5344CB8AC3E}">
        <p14:creationId xmlns:p14="http://schemas.microsoft.com/office/powerpoint/2010/main" val="4118855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B0217E-5AA3-BAB6-2A4D-B69F3545598E}"/>
              </a:ext>
            </a:extLst>
          </p:cNvPr>
          <p:cNvSpPr txBox="1"/>
          <p:nvPr/>
        </p:nvSpPr>
        <p:spPr>
          <a:xfrm>
            <a:off x="4178808" y="228600"/>
            <a:ext cx="2726965" cy="707886"/>
          </a:xfrm>
          <a:prstGeom prst="rect">
            <a:avLst/>
          </a:prstGeom>
          <a:noFill/>
        </p:spPr>
        <p:txBody>
          <a:bodyPr wrap="none" rtlCol="0">
            <a:spAutoFit/>
          </a:bodyPr>
          <a:lstStyle/>
          <a:p>
            <a:r>
              <a:rPr lang="en-IN" sz="3600" b="1" dirty="0"/>
              <a:t>Project</a:t>
            </a:r>
            <a:r>
              <a:rPr lang="en-IN" sz="4000" dirty="0"/>
              <a:t> </a:t>
            </a:r>
            <a:r>
              <a:rPr lang="en-IN" sz="3600" b="1" dirty="0"/>
              <a:t>Plan</a:t>
            </a:r>
          </a:p>
        </p:txBody>
      </p:sp>
      <p:graphicFrame>
        <p:nvGraphicFramePr>
          <p:cNvPr id="10" name="Table 9">
            <a:extLst>
              <a:ext uri="{FF2B5EF4-FFF2-40B4-BE49-F238E27FC236}">
                <a16:creationId xmlns:a16="http://schemas.microsoft.com/office/drawing/2014/main" id="{660289CD-7307-624E-F468-83061988C9F0}"/>
              </a:ext>
            </a:extLst>
          </p:cNvPr>
          <p:cNvGraphicFramePr>
            <a:graphicFrameLocks noGrp="1"/>
          </p:cNvGraphicFramePr>
          <p:nvPr>
            <p:extLst>
              <p:ext uri="{D42A27DB-BD31-4B8C-83A1-F6EECF244321}">
                <p14:modId xmlns:p14="http://schemas.microsoft.com/office/powerpoint/2010/main" val="2361839287"/>
              </p:ext>
            </p:extLst>
          </p:nvPr>
        </p:nvGraphicFramePr>
        <p:xfrm>
          <a:off x="774192" y="1898174"/>
          <a:ext cx="10515600" cy="320040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391710050"/>
                    </a:ext>
                  </a:extLst>
                </a:gridCol>
                <a:gridCol w="3505200">
                  <a:extLst>
                    <a:ext uri="{9D8B030D-6E8A-4147-A177-3AD203B41FA5}">
                      <a16:colId xmlns:a16="http://schemas.microsoft.com/office/drawing/2014/main" val="3657810058"/>
                    </a:ext>
                  </a:extLst>
                </a:gridCol>
                <a:gridCol w="3505200">
                  <a:extLst>
                    <a:ext uri="{9D8B030D-6E8A-4147-A177-3AD203B41FA5}">
                      <a16:colId xmlns:a16="http://schemas.microsoft.com/office/drawing/2014/main" val="3769709086"/>
                    </a:ext>
                  </a:extLst>
                </a:gridCol>
              </a:tblGrid>
              <a:tr h="0">
                <a:tc>
                  <a:txBody>
                    <a:bodyPr/>
                    <a:lstStyle/>
                    <a:p>
                      <a:pPr>
                        <a:buNone/>
                      </a:pPr>
                      <a:r>
                        <a:rPr lang="en-US" b="1" dirty="0"/>
                        <a:t>P</a:t>
                      </a:r>
                      <a:r>
                        <a:rPr lang="en-IN" b="1" dirty="0" err="1"/>
                        <a:t>hase</a:t>
                      </a:r>
                      <a:endParaRPr lang="en-IN" b="1" dirty="0"/>
                    </a:p>
                  </a:txBody>
                  <a:tcPr anchor="ctr"/>
                </a:tc>
                <a:tc>
                  <a:txBody>
                    <a:bodyPr/>
                    <a:lstStyle/>
                    <a:p>
                      <a:pPr>
                        <a:buNone/>
                      </a:pPr>
                      <a:r>
                        <a:rPr lang="en-US" b="1" dirty="0"/>
                        <a:t>T</a:t>
                      </a:r>
                      <a:r>
                        <a:rPr lang="en-IN" b="1" dirty="0" err="1"/>
                        <a:t>opics</a:t>
                      </a:r>
                      <a:endParaRPr lang="en-IN" b="1" dirty="0"/>
                    </a:p>
                  </a:txBody>
                  <a:tcPr anchor="ctr"/>
                </a:tc>
                <a:tc>
                  <a:txBody>
                    <a:bodyPr/>
                    <a:lstStyle/>
                    <a:p>
                      <a:pPr>
                        <a:buNone/>
                      </a:pPr>
                      <a:r>
                        <a:rPr lang="en-IN" b="1" dirty="0"/>
                        <a:t>Work</a:t>
                      </a:r>
                    </a:p>
                  </a:txBody>
                  <a:tcPr anchor="ctr"/>
                </a:tc>
                <a:extLst>
                  <a:ext uri="{0D108BD9-81ED-4DB2-BD59-A6C34878D82A}">
                    <a16:rowId xmlns:a16="http://schemas.microsoft.com/office/drawing/2014/main" val="429087186"/>
                  </a:ext>
                </a:extLst>
              </a:tr>
              <a:tr h="0">
                <a:tc>
                  <a:txBody>
                    <a:bodyPr/>
                    <a:lstStyle/>
                    <a:p>
                      <a:pPr>
                        <a:buNone/>
                      </a:pPr>
                      <a:r>
                        <a:rPr lang="en-IN" dirty="0"/>
                        <a:t>Phase 1</a:t>
                      </a:r>
                    </a:p>
                  </a:txBody>
                  <a:tcPr anchor="ctr"/>
                </a:tc>
                <a:tc>
                  <a:txBody>
                    <a:bodyPr/>
                    <a:lstStyle/>
                    <a:p>
                      <a:pPr>
                        <a:buNone/>
                      </a:pPr>
                      <a:r>
                        <a:rPr lang="en-IN"/>
                        <a:t>Setup</a:t>
                      </a:r>
                    </a:p>
                  </a:txBody>
                  <a:tcPr anchor="ctr"/>
                </a:tc>
                <a:tc>
                  <a:txBody>
                    <a:bodyPr/>
                    <a:lstStyle/>
                    <a:p>
                      <a:pPr>
                        <a:buNone/>
                      </a:pPr>
                      <a:r>
                        <a:rPr lang="en-IN"/>
                        <a:t>Dataset, validation, S3</a:t>
                      </a:r>
                    </a:p>
                  </a:txBody>
                  <a:tcPr anchor="ctr"/>
                </a:tc>
                <a:extLst>
                  <a:ext uri="{0D108BD9-81ED-4DB2-BD59-A6C34878D82A}">
                    <a16:rowId xmlns:a16="http://schemas.microsoft.com/office/drawing/2014/main" val="2605311541"/>
                  </a:ext>
                </a:extLst>
              </a:tr>
              <a:tr h="0">
                <a:tc>
                  <a:txBody>
                    <a:bodyPr/>
                    <a:lstStyle/>
                    <a:p>
                      <a:pPr>
                        <a:buNone/>
                      </a:pPr>
                      <a:r>
                        <a:rPr lang="en-IN" dirty="0"/>
                        <a:t>Phase  2</a:t>
                      </a:r>
                    </a:p>
                  </a:txBody>
                  <a:tcPr anchor="ctr"/>
                </a:tc>
                <a:tc>
                  <a:txBody>
                    <a:bodyPr/>
                    <a:lstStyle/>
                    <a:p>
                      <a:pPr>
                        <a:buNone/>
                      </a:pPr>
                      <a:r>
                        <a:rPr lang="en-IN"/>
                        <a:t>Data</a:t>
                      </a:r>
                    </a:p>
                  </a:txBody>
                  <a:tcPr anchor="ctr"/>
                </a:tc>
                <a:tc>
                  <a:txBody>
                    <a:bodyPr/>
                    <a:lstStyle/>
                    <a:p>
                      <a:pPr>
                        <a:buNone/>
                      </a:pPr>
                      <a:r>
                        <a:rPr lang="en-IN"/>
                        <a:t>EDA, preprocessing, Glue, Athena</a:t>
                      </a:r>
                    </a:p>
                  </a:txBody>
                  <a:tcPr anchor="ctr"/>
                </a:tc>
                <a:extLst>
                  <a:ext uri="{0D108BD9-81ED-4DB2-BD59-A6C34878D82A}">
                    <a16:rowId xmlns:a16="http://schemas.microsoft.com/office/drawing/2014/main" val="942703509"/>
                  </a:ext>
                </a:extLst>
              </a:tr>
              <a:tr h="0">
                <a:tc>
                  <a:txBody>
                    <a:bodyPr/>
                    <a:lstStyle/>
                    <a:p>
                      <a:pPr>
                        <a:buNone/>
                      </a:pPr>
                      <a:r>
                        <a:rPr lang="en-IN" dirty="0"/>
                        <a:t>Phase  3</a:t>
                      </a:r>
                    </a:p>
                  </a:txBody>
                  <a:tcPr anchor="ctr"/>
                </a:tc>
                <a:tc>
                  <a:txBody>
                    <a:bodyPr/>
                    <a:lstStyle/>
                    <a:p>
                      <a:pPr>
                        <a:buNone/>
                      </a:pPr>
                      <a:r>
                        <a:rPr lang="en-IN"/>
                        <a:t>ML</a:t>
                      </a:r>
                    </a:p>
                  </a:txBody>
                  <a:tcPr anchor="ctr"/>
                </a:tc>
                <a:tc>
                  <a:txBody>
                    <a:bodyPr/>
                    <a:lstStyle/>
                    <a:p>
                      <a:pPr>
                        <a:buNone/>
                      </a:pPr>
                      <a:r>
                        <a:rPr lang="en-IN"/>
                        <a:t>Train and compare 4 models</a:t>
                      </a:r>
                    </a:p>
                  </a:txBody>
                  <a:tcPr anchor="ctr"/>
                </a:tc>
                <a:extLst>
                  <a:ext uri="{0D108BD9-81ED-4DB2-BD59-A6C34878D82A}">
                    <a16:rowId xmlns:a16="http://schemas.microsoft.com/office/drawing/2014/main" val="2225135950"/>
                  </a:ext>
                </a:extLst>
              </a:tr>
              <a:tr h="0">
                <a:tc>
                  <a:txBody>
                    <a:bodyPr/>
                    <a:lstStyle/>
                    <a:p>
                      <a:pPr>
                        <a:buNone/>
                      </a:pPr>
                      <a:r>
                        <a:rPr lang="en-IN" dirty="0"/>
                        <a:t>Phase  4</a:t>
                      </a:r>
                    </a:p>
                  </a:txBody>
                  <a:tcPr anchor="ctr"/>
                </a:tc>
                <a:tc>
                  <a:txBody>
                    <a:bodyPr/>
                    <a:lstStyle/>
                    <a:p>
                      <a:pPr>
                        <a:buNone/>
                      </a:pPr>
                      <a:r>
                        <a:rPr lang="en-IN"/>
                        <a:t>XAI</a:t>
                      </a:r>
                    </a:p>
                  </a:txBody>
                  <a:tcPr anchor="ctr"/>
                </a:tc>
                <a:tc>
                  <a:txBody>
                    <a:bodyPr/>
                    <a:lstStyle/>
                    <a:p>
                      <a:pPr>
                        <a:buNone/>
                      </a:pPr>
                      <a:r>
                        <a:rPr lang="en-IN"/>
                        <a:t>Risk score + SHAP</a:t>
                      </a:r>
                    </a:p>
                  </a:txBody>
                  <a:tcPr anchor="ctr"/>
                </a:tc>
                <a:extLst>
                  <a:ext uri="{0D108BD9-81ED-4DB2-BD59-A6C34878D82A}">
                    <a16:rowId xmlns:a16="http://schemas.microsoft.com/office/drawing/2014/main" val="2899710878"/>
                  </a:ext>
                </a:extLst>
              </a:tr>
              <a:tr h="0">
                <a:tc>
                  <a:txBody>
                    <a:bodyPr/>
                    <a:lstStyle/>
                    <a:p>
                      <a:pPr>
                        <a:buNone/>
                      </a:pPr>
                      <a:r>
                        <a:rPr lang="en-IN" dirty="0"/>
                        <a:t>Phase  5</a:t>
                      </a:r>
                    </a:p>
                  </a:txBody>
                  <a:tcPr anchor="ctr"/>
                </a:tc>
                <a:tc>
                  <a:txBody>
                    <a:bodyPr/>
                    <a:lstStyle/>
                    <a:p>
                      <a:pPr>
                        <a:buNone/>
                      </a:pPr>
                      <a:r>
                        <a:rPr lang="en-IN"/>
                        <a:t>Application</a:t>
                      </a:r>
                    </a:p>
                  </a:txBody>
                  <a:tcPr anchor="ctr"/>
                </a:tc>
                <a:tc>
                  <a:txBody>
                    <a:bodyPr/>
                    <a:lstStyle/>
                    <a:p>
                      <a:pPr>
                        <a:buNone/>
                      </a:pPr>
                      <a:r>
                        <a:rPr lang="en-IN"/>
                        <a:t>Flask dashboard</a:t>
                      </a:r>
                    </a:p>
                  </a:txBody>
                  <a:tcPr anchor="ctr"/>
                </a:tc>
                <a:extLst>
                  <a:ext uri="{0D108BD9-81ED-4DB2-BD59-A6C34878D82A}">
                    <a16:rowId xmlns:a16="http://schemas.microsoft.com/office/drawing/2014/main" val="196530253"/>
                  </a:ext>
                </a:extLst>
              </a:tr>
              <a:tr h="0">
                <a:tc>
                  <a:txBody>
                    <a:bodyPr/>
                    <a:lstStyle/>
                    <a:p>
                      <a:pPr>
                        <a:buNone/>
                      </a:pPr>
                      <a:r>
                        <a:rPr lang="en-IN" dirty="0"/>
                        <a:t>Phase  6</a:t>
                      </a:r>
                    </a:p>
                  </a:txBody>
                  <a:tcPr anchor="ctr"/>
                </a:tc>
                <a:tc>
                  <a:txBody>
                    <a:bodyPr/>
                    <a:lstStyle/>
                    <a:p>
                      <a:pPr>
                        <a:buNone/>
                      </a:pPr>
                      <a:r>
                        <a:rPr lang="en-IN"/>
                        <a:t>Integration</a:t>
                      </a:r>
                    </a:p>
                  </a:txBody>
                  <a:tcPr anchor="ctr"/>
                </a:tc>
                <a:tc>
                  <a:txBody>
                    <a:bodyPr/>
                    <a:lstStyle/>
                    <a:p>
                      <a:pPr>
                        <a:buNone/>
                      </a:pPr>
                      <a:r>
                        <a:rPr lang="en-IN"/>
                        <a:t>AWS integration + testing</a:t>
                      </a:r>
                    </a:p>
                  </a:txBody>
                  <a:tcPr anchor="ctr"/>
                </a:tc>
                <a:extLst>
                  <a:ext uri="{0D108BD9-81ED-4DB2-BD59-A6C34878D82A}">
                    <a16:rowId xmlns:a16="http://schemas.microsoft.com/office/drawing/2014/main" val="3627169830"/>
                  </a:ext>
                </a:extLst>
              </a:tr>
              <a:tr h="0">
                <a:tc>
                  <a:txBody>
                    <a:bodyPr/>
                    <a:lstStyle/>
                    <a:p>
                      <a:pPr>
                        <a:buNone/>
                      </a:pPr>
                      <a:r>
                        <a:rPr lang="en-IN" dirty="0"/>
                        <a:t>Phase 7</a:t>
                      </a:r>
                    </a:p>
                  </a:txBody>
                  <a:tcPr anchor="ctr"/>
                </a:tc>
                <a:tc>
                  <a:txBody>
                    <a:bodyPr/>
                    <a:lstStyle/>
                    <a:p>
                      <a:pPr>
                        <a:buNone/>
                      </a:pPr>
                      <a:r>
                        <a:rPr lang="en-IN"/>
                        <a:t>Finalization</a:t>
                      </a:r>
                    </a:p>
                  </a:txBody>
                  <a:tcPr anchor="ctr"/>
                </a:tc>
                <a:tc>
                  <a:txBody>
                    <a:bodyPr/>
                    <a:lstStyle/>
                    <a:p>
                      <a:pPr>
                        <a:buNone/>
                      </a:pPr>
                      <a:r>
                        <a:rPr lang="en-IN" dirty="0"/>
                        <a:t>QA, documentation &amp; presentation</a:t>
                      </a:r>
                    </a:p>
                  </a:txBody>
                  <a:tcPr anchor="ctr"/>
                </a:tc>
                <a:extLst>
                  <a:ext uri="{0D108BD9-81ED-4DB2-BD59-A6C34878D82A}">
                    <a16:rowId xmlns:a16="http://schemas.microsoft.com/office/drawing/2014/main" val="889527143"/>
                  </a:ext>
                </a:extLst>
              </a:tr>
            </a:tbl>
          </a:graphicData>
        </a:graphic>
      </p:graphicFrame>
    </p:spTree>
    <p:extLst>
      <p:ext uri="{BB962C8B-B14F-4D97-AF65-F5344CB8AC3E}">
        <p14:creationId xmlns:p14="http://schemas.microsoft.com/office/powerpoint/2010/main" val="900815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TotalTime>
  <Words>989</Words>
  <Application>Microsoft Office PowerPoint</Application>
  <PresentationFormat>Widescreen</PresentationFormat>
  <Paragraphs>166</Paragraphs>
  <Slides>11</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Masetti Manasvini</cp:lastModifiedBy>
  <cp:revision>37</cp:revision>
  <dcterms:created xsi:type="dcterms:W3CDTF">2026-08-08T06:33:56Z</dcterms:created>
  <dcterms:modified xsi:type="dcterms:W3CDTF">2026-09-18T03:07:12Z</dcterms:modified>
</cp:coreProperties>
</file>